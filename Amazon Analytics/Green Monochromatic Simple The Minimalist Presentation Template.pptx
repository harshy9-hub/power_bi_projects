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Prata" panose="020B0604020202020204" charset="0"/>
      <p:regular r:id="rId11"/>
    </p:embeddedFont>
    <p:embeddedFont>
      <p:font typeface="Raleway" pitchFamily="2" charset="0"/>
      <p:regular r:id="rId12"/>
    </p:embeddedFont>
    <p:embeddedFont>
      <p:font typeface="Raleway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A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76554" y="3664369"/>
            <a:ext cx="12734892" cy="296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sz="114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AMAZON</a:t>
            </a:r>
          </a:p>
          <a:p>
            <a:pPr algn="ctr">
              <a:lnSpc>
                <a:spcPts val="11400"/>
              </a:lnSpc>
            </a:pPr>
            <a:r>
              <a:rPr lang="en-US" sz="114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ANALYTICS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9258300"/>
            <a:ext cx="18288000" cy="1028700"/>
            <a:chOff x="0" y="0"/>
            <a:chExt cx="12372622" cy="695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EE8538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776554" y="2399939"/>
            <a:ext cx="12734892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THE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87109" y="9510857"/>
            <a:ext cx="591378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Harsh Bagrao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510857"/>
            <a:ext cx="295689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2025 November 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5635" y="9536430"/>
            <a:ext cx="430366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Tool Used : Power BI,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A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EE8538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4091936" y="9510857"/>
            <a:ext cx="316736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33450"/>
            <a:ext cx="4319213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OBJECTIVE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64290" y="1687830"/>
            <a:ext cx="10895010" cy="342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Amazon hosts thousands of products across multiple brands and categories.</a:t>
            </a:r>
          </a:p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Understanding which brands perform well, which categories dominate, and how pricing affects popularity is critical for: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Improving product strategies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Identifying high-performing segments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Understanding consumer behavior patterns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Supporting data-driven business decisions</a:t>
            </a:r>
          </a:p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However, the raw data contains inconsistencies such as missing values, duplicate brands, inconsistent categories, and unstructured product information.</a:t>
            </a:r>
          </a:p>
          <a:p>
            <a:pPr algn="just">
              <a:lnSpc>
                <a:spcPts val="2700"/>
              </a:lnSpc>
            </a:pPr>
            <a:endParaRPr lang="en-US" sz="1800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6364290" y="5573321"/>
            <a:ext cx="10895010" cy="3054574"/>
          </a:xfrm>
          <a:custGeom>
            <a:avLst/>
            <a:gdLst/>
            <a:ahLst/>
            <a:cxnLst/>
            <a:rect l="l" t="t" r="r" b="b"/>
            <a:pathLst>
              <a:path w="10895010" h="3054574">
                <a:moveTo>
                  <a:pt x="0" y="0"/>
                </a:moveTo>
                <a:lnTo>
                  <a:pt x="10895010" y="0"/>
                </a:lnTo>
                <a:lnTo>
                  <a:pt x="10895010" y="3054574"/>
                </a:lnTo>
                <a:lnTo>
                  <a:pt x="0" y="3054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0558" r="-65" b="-87125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A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EE8538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8991522" y="0"/>
            <a:ext cx="9296478" cy="9258300"/>
          </a:xfrm>
          <a:custGeom>
            <a:avLst/>
            <a:gdLst/>
            <a:ahLst/>
            <a:cxnLst/>
            <a:rect l="l" t="t" r="r" b="b"/>
            <a:pathLst>
              <a:path w="9296478" h="9258300">
                <a:moveTo>
                  <a:pt x="0" y="0"/>
                </a:moveTo>
                <a:lnTo>
                  <a:pt x="9296478" y="0"/>
                </a:lnTo>
                <a:lnTo>
                  <a:pt x="929647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160" r="-1065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091936" y="9510857"/>
            <a:ext cx="316736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33450"/>
            <a:ext cx="6919931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DATASET DESCRIPTION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076825"/>
            <a:ext cx="6919931" cy="342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Dataset Overview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Source: Amazon Product Dataset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Total Records: ~14,000+ products</a:t>
            </a:r>
          </a:p>
          <a:p>
            <a:pPr marL="388620" lvl="1" indent="-194310" algn="just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Tables Used:</a:t>
            </a:r>
          </a:p>
          <a:p>
            <a:pPr marL="777240" lvl="2" indent="-259080" algn="just">
              <a:lnSpc>
                <a:spcPts val="2700"/>
              </a:lnSpc>
              <a:buFont typeface="Arial"/>
              <a:buChar char="⚬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dim_brand</a:t>
            </a:r>
          </a:p>
          <a:p>
            <a:pPr marL="777240" lvl="2" indent="-259080" algn="just">
              <a:lnSpc>
                <a:spcPts val="2700"/>
              </a:lnSpc>
              <a:buFont typeface="Arial"/>
              <a:buChar char="⚬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dim_category</a:t>
            </a:r>
          </a:p>
          <a:p>
            <a:pPr marL="777240" lvl="2" indent="-259080" algn="just">
              <a:lnSpc>
                <a:spcPts val="2700"/>
              </a:lnSpc>
              <a:buFont typeface="Arial"/>
              <a:buChar char="⚬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dim_availability</a:t>
            </a:r>
          </a:p>
          <a:p>
            <a:pPr marL="777240" lvl="2" indent="-259080" algn="just">
              <a:lnSpc>
                <a:spcPts val="2700"/>
              </a:lnSpc>
              <a:buFont typeface="Arial"/>
              <a:buChar char="⚬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dim_product</a:t>
            </a:r>
          </a:p>
          <a:p>
            <a:pPr marL="777240" lvl="2" indent="-259080" algn="just">
              <a:lnSpc>
                <a:spcPts val="2700"/>
              </a:lnSpc>
              <a:buFont typeface="Arial"/>
              <a:buChar char="⚬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fact_product_metrics</a:t>
            </a:r>
          </a:p>
          <a:p>
            <a:pPr algn="just">
              <a:lnSpc>
                <a:spcPts val="2700"/>
              </a:lnSpc>
            </a:pPr>
            <a:endParaRPr lang="en-US" sz="1800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A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45002" y="207645"/>
            <a:ext cx="13997996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DATA CLEANING &amp; TRANSFORMATION?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9258300"/>
            <a:ext cx="18288000" cy="1028700"/>
            <a:chOff x="0" y="0"/>
            <a:chExt cx="12372622" cy="695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EE8538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4091936" y="9510857"/>
            <a:ext cx="316736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028700" y="5323109"/>
            <a:ext cx="15114292" cy="64482"/>
          </a:xfrm>
          <a:prstGeom prst="line">
            <a:avLst/>
          </a:prstGeom>
          <a:ln w="9525" cap="flat">
            <a:solidFill>
              <a:srgbClr val="804F3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1548387" y="1649440"/>
            <a:ext cx="0" cy="7279669"/>
          </a:xfrm>
          <a:prstGeom prst="line">
            <a:avLst/>
          </a:prstGeom>
          <a:ln w="9525" cap="flat">
            <a:solidFill>
              <a:srgbClr val="804F3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28700" y="2097654"/>
            <a:ext cx="462297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1. Data Import &amp; Initial Checks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792730"/>
            <a:ext cx="4622970" cy="200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833" lvl="1" indent="-162916" algn="l">
              <a:lnSpc>
                <a:spcPts val="2263"/>
              </a:lnSpc>
              <a:buFont typeface="Arial"/>
              <a:buChar char="•"/>
            </a:pPr>
            <a:r>
              <a:rPr lang="en-US" sz="150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Connected Power BI to MySQL database</a:t>
            </a:r>
          </a:p>
          <a:p>
            <a:pPr marL="325833" lvl="1" indent="-162916" algn="l">
              <a:lnSpc>
                <a:spcPts val="2263"/>
              </a:lnSpc>
              <a:buFont typeface="Arial"/>
              <a:buChar char="•"/>
            </a:pPr>
            <a:r>
              <a:rPr lang="en-US" sz="150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Imported all 5 tables: Brand, Category, Availability, Product, Fact Metrics</a:t>
            </a:r>
          </a:p>
          <a:p>
            <a:pPr marL="325833" lvl="1" indent="-162916" algn="l">
              <a:lnSpc>
                <a:spcPts val="2263"/>
              </a:lnSpc>
              <a:buFont typeface="Arial"/>
              <a:buChar char="•"/>
            </a:pPr>
            <a:r>
              <a:rPr lang="en-US" sz="150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Checked row counts &amp; schema validation</a:t>
            </a:r>
          </a:p>
          <a:p>
            <a:pPr marL="325833" lvl="1" indent="-162916" algn="l">
              <a:lnSpc>
                <a:spcPts val="2263"/>
              </a:lnSpc>
              <a:buFont typeface="Arial"/>
              <a:buChar char="•"/>
            </a:pPr>
            <a:r>
              <a:rPr lang="en-US" sz="150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Ensured PK–FK relationships matched the snowflake schema</a:t>
            </a:r>
          </a:p>
          <a:p>
            <a:pPr algn="l">
              <a:lnSpc>
                <a:spcPts val="2263"/>
              </a:lnSpc>
            </a:pPr>
            <a:endParaRPr lang="en-US" sz="1509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054092" y="2091690"/>
            <a:ext cx="448844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 3. Merging &amp; Lookup Mapping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26380" y="2792730"/>
            <a:ext cx="4841151" cy="182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374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Created clean product and fact tables by merging:</a:t>
            </a:r>
          </a:p>
          <a:p>
            <a:pPr marL="296842" lvl="1" indent="-148421" algn="l">
              <a:lnSpc>
                <a:spcPts val="2062"/>
              </a:lnSpc>
              <a:buFont typeface="Arial"/>
              <a:buChar char="•"/>
            </a:pPr>
            <a:r>
              <a:rPr lang="en-US" sz="1374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Product → Brand (to get Brand_ID)</a:t>
            </a:r>
          </a:p>
          <a:p>
            <a:pPr marL="296842" lvl="1" indent="-148421" algn="l">
              <a:lnSpc>
                <a:spcPts val="2062"/>
              </a:lnSpc>
              <a:buFont typeface="Arial"/>
              <a:buChar char="•"/>
            </a:pPr>
            <a:r>
              <a:rPr lang="en-US" sz="1374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Product → Category (to get Category_ID)</a:t>
            </a:r>
          </a:p>
          <a:p>
            <a:pPr marL="296842" lvl="1" indent="-148421" algn="l">
              <a:lnSpc>
                <a:spcPts val="2062"/>
              </a:lnSpc>
              <a:buFont typeface="Arial"/>
              <a:buChar char="•"/>
            </a:pPr>
            <a:r>
              <a:rPr lang="en-US" sz="1374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Fact Table → Brand, Category, Availability</a:t>
            </a:r>
          </a:p>
          <a:p>
            <a:pPr marL="296842" lvl="1" indent="-148421" algn="l">
              <a:lnSpc>
                <a:spcPts val="2062"/>
              </a:lnSpc>
              <a:buFont typeface="Arial"/>
              <a:buChar char="•"/>
            </a:pPr>
            <a:r>
              <a:rPr lang="en-US" sz="1374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Ensured all foreign keys accurately map to dimension tables.</a:t>
            </a:r>
          </a:p>
          <a:p>
            <a:pPr algn="l">
              <a:lnSpc>
                <a:spcPts val="2062"/>
              </a:lnSpc>
            </a:pPr>
            <a:endParaRPr lang="en-US" sz="1374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07803" y="5716781"/>
            <a:ext cx="434386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4. Feature Engineering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408296"/>
            <a:ext cx="4336220" cy="233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 dirty="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Created Price Category</a:t>
            </a:r>
          </a:p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 dirty="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Low / Medium / High / Premium</a:t>
            </a:r>
          </a:p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 dirty="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Converted Scrape Date → Day for better trend analysis</a:t>
            </a:r>
          </a:p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 dirty="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Generated Popularity-Based Revenue metric</a:t>
            </a:r>
          </a:p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 dirty="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Added calculated columns for analytics</a:t>
            </a:r>
          </a:p>
          <a:p>
            <a:pPr algn="l">
              <a:lnSpc>
                <a:spcPts val="2283"/>
              </a:lnSpc>
            </a:pPr>
            <a:endParaRPr lang="en-US" sz="1522" dirty="0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126380" y="5686301"/>
            <a:ext cx="4343866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6. Final Data Model (Snowflake Schema)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26380" y="6610101"/>
            <a:ext cx="4213717" cy="2319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6976" lvl="1" indent="-188488" algn="l">
              <a:lnSpc>
                <a:spcPts val="2619"/>
              </a:lnSpc>
              <a:buFont typeface="Arial"/>
              <a:buChar char="•"/>
            </a:pPr>
            <a:r>
              <a:rPr lang="en-US" sz="1746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Fact table linked to Brand, Category, Availability, Product</a:t>
            </a:r>
          </a:p>
          <a:p>
            <a:pPr marL="376976" lvl="1" indent="-188488" algn="l">
              <a:lnSpc>
                <a:spcPts val="2619"/>
              </a:lnSpc>
              <a:buFont typeface="Arial"/>
              <a:buChar char="•"/>
            </a:pPr>
            <a:r>
              <a:rPr lang="en-US" sz="1746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Clean, optimized model for visual performance</a:t>
            </a:r>
          </a:p>
          <a:p>
            <a:pPr marL="376976" lvl="1" indent="-188488" algn="l">
              <a:lnSpc>
                <a:spcPts val="2619"/>
              </a:lnSpc>
              <a:buFont typeface="Arial"/>
              <a:buChar char="•"/>
            </a:pPr>
            <a:r>
              <a:rPr lang="en-US" sz="1746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Enabled slicers for brand, category &amp; price segments</a:t>
            </a:r>
          </a:p>
          <a:p>
            <a:pPr algn="l">
              <a:lnSpc>
                <a:spcPts val="2619"/>
              </a:lnSpc>
            </a:pPr>
            <a:endParaRPr lang="en-US" sz="1746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941182" y="1730402"/>
            <a:ext cx="0" cy="7198707"/>
          </a:xfrm>
          <a:prstGeom prst="line">
            <a:avLst/>
          </a:prstGeom>
          <a:ln w="9525" cap="flat">
            <a:solidFill>
              <a:srgbClr val="804F3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6433300" y="2097654"/>
            <a:ext cx="462297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 2. Data Cleaning Steps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17457" y="2756646"/>
            <a:ext cx="5430930" cy="259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083" lvl="1" indent="-147542" algn="l">
              <a:lnSpc>
                <a:spcPts val="2050"/>
              </a:lnSpc>
              <a:buFont typeface="Arial"/>
              <a:buChar char="•"/>
            </a:pPr>
            <a:r>
              <a:rPr lang="en-US" sz="1366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Removed duplicate brand &amp; category names</a:t>
            </a:r>
          </a:p>
          <a:p>
            <a:pPr marL="295083" lvl="1" indent="-147542" algn="l">
              <a:lnSpc>
                <a:spcPts val="2050"/>
              </a:lnSpc>
              <a:buFont typeface="Arial"/>
              <a:buChar char="•"/>
            </a:pPr>
            <a:r>
              <a:rPr lang="en-US" sz="1366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Trimmed and standardized text fields (Brand Name, Category Name, Product Name)</a:t>
            </a:r>
          </a:p>
          <a:p>
            <a:pPr marL="295083" lvl="1" indent="-147542" algn="l">
              <a:lnSpc>
                <a:spcPts val="2050"/>
              </a:lnSpc>
              <a:buFont typeface="Arial"/>
              <a:buChar char="•"/>
            </a:pPr>
            <a:r>
              <a:rPr lang="en-US" sz="1366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Applied Proper Case to ensure consistent formatting</a:t>
            </a:r>
          </a:p>
          <a:p>
            <a:pPr marL="295083" lvl="1" indent="-147542" algn="l">
              <a:lnSpc>
                <a:spcPts val="2050"/>
              </a:lnSpc>
              <a:buFont typeface="Arial"/>
              <a:buChar char="•"/>
            </a:pPr>
            <a:r>
              <a:rPr lang="en-US" sz="1366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Cleaned product names (removed symbols, brackets, extra spaces)</a:t>
            </a:r>
          </a:p>
          <a:p>
            <a:pPr marL="295083" lvl="1" indent="-147542" algn="l">
              <a:lnSpc>
                <a:spcPts val="2050"/>
              </a:lnSpc>
              <a:buFont typeface="Arial"/>
              <a:buChar char="•"/>
            </a:pPr>
            <a:r>
              <a:rPr lang="en-US" sz="1366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Fixed mismatched brand names by merging with cleaned brand dimension</a:t>
            </a:r>
          </a:p>
          <a:p>
            <a:pPr marL="295083" lvl="1" indent="-147542" algn="l">
              <a:lnSpc>
                <a:spcPts val="2050"/>
              </a:lnSpc>
              <a:buFont typeface="Arial"/>
              <a:buChar char="•"/>
            </a:pPr>
            <a:r>
              <a:rPr lang="en-US" sz="1366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Corrected wrong category assignments</a:t>
            </a:r>
          </a:p>
          <a:p>
            <a:pPr algn="l">
              <a:lnSpc>
                <a:spcPts val="2050"/>
              </a:lnSpc>
            </a:pPr>
            <a:endParaRPr lang="en-US" sz="1366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572852" y="5686301"/>
            <a:ext cx="434386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5. DAX Measures Created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17445" y="6408296"/>
            <a:ext cx="4336220" cy="259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Total Revenue</a:t>
            </a:r>
          </a:p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Average Rating</a:t>
            </a:r>
          </a:p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Total Reviews</a:t>
            </a:r>
          </a:p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Total Products</a:t>
            </a:r>
          </a:p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Average Popularity</a:t>
            </a:r>
          </a:p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High Price Products</a:t>
            </a:r>
          </a:p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Category-Wise &amp; Brand-Wise KPIs</a:t>
            </a:r>
          </a:p>
          <a:p>
            <a:pPr marL="328646" lvl="1" indent="-164323" algn="l">
              <a:lnSpc>
                <a:spcPts val="2283"/>
              </a:lnSpc>
              <a:buFont typeface="Arial"/>
              <a:buChar char="•"/>
            </a:pPr>
            <a:r>
              <a:rPr lang="en-US" sz="1522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Time-based trend measures</a:t>
            </a:r>
          </a:p>
          <a:p>
            <a:pPr algn="l">
              <a:lnSpc>
                <a:spcPts val="2283"/>
              </a:lnSpc>
            </a:pPr>
            <a:endParaRPr lang="en-US" sz="1522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A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EE8538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32657" y="2009359"/>
            <a:ext cx="4595330" cy="7250755"/>
          </a:xfrm>
          <a:custGeom>
            <a:avLst/>
            <a:gdLst/>
            <a:ahLst/>
            <a:cxnLst/>
            <a:rect l="l" t="t" r="r" b="b"/>
            <a:pathLst>
              <a:path w="4595330" h="7250755">
                <a:moveTo>
                  <a:pt x="0" y="0"/>
                </a:moveTo>
                <a:lnTo>
                  <a:pt x="4595330" y="0"/>
                </a:lnTo>
                <a:lnTo>
                  <a:pt x="4595330" y="7250755"/>
                </a:lnTo>
                <a:lnTo>
                  <a:pt x="0" y="7250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960" t="-242" r="-2920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61478" y="2695611"/>
            <a:ext cx="9762573" cy="624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92"/>
              </a:lnSpc>
            </a:pPr>
            <a:r>
              <a:rPr lang="en-US" sz="1995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1. Dashboard Title &amp; Theme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Amazon-inspired design with dark layout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Clean typography and professional layout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Consistent branding across all pages</a:t>
            </a:r>
          </a:p>
          <a:p>
            <a:pPr algn="just">
              <a:lnSpc>
                <a:spcPts val="2992"/>
              </a:lnSpc>
            </a:pPr>
            <a:r>
              <a:rPr lang="en-US" sz="1995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2. Navigation Buttons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Brand Insights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Category Performance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Pricing &amp; Popularity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Interactive page buttons improve user experience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Buttons styled using Amazon colors (Black, Orange, White)</a:t>
            </a:r>
          </a:p>
          <a:p>
            <a:pPr algn="just">
              <a:lnSpc>
                <a:spcPts val="2992"/>
              </a:lnSpc>
            </a:pPr>
            <a:r>
              <a:rPr lang="en-US" sz="1995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3. KPI Summary Row</a:t>
            </a:r>
          </a:p>
          <a:p>
            <a:pPr algn="just">
              <a:lnSpc>
                <a:spcPts val="2992"/>
              </a:lnSpc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Provides a quick overview of the entire dataset: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Total Revenue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Total Products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Average Rating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Total Reviews</a:t>
            </a:r>
          </a:p>
          <a:p>
            <a:pPr marL="430728" lvl="1" indent="-215364" algn="just">
              <a:lnSpc>
                <a:spcPts val="2992"/>
              </a:lnSpc>
              <a:buFont typeface="Arial"/>
              <a:buChar char="•"/>
            </a:pPr>
            <a:r>
              <a:rPr lang="en-US" sz="199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Average Popularity Score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25378" y="743885"/>
            <a:ext cx="9709568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HOME PAGE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72959" y="1868249"/>
            <a:ext cx="7302182" cy="2480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359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Purpose of the Home Page</a:t>
            </a:r>
          </a:p>
          <a:p>
            <a:pPr algn="l">
              <a:lnSpc>
                <a:spcPts val="3302"/>
              </a:lnSpc>
            </a:pPr>
            <a:r>
              <a:rPr lang="en-US" sz="235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The Home Page acts as the central navigation hub for the entire dashboard.</a:t>
            </a:r>
          </a:p>
          <a:p>
            <a:pPr algn="l">
              <a:lnSpc>
                <a:spcPts val="3302"/>
              </a:lnSpc>
            </a:pPr>
            <a:r>
              <a:rPr lang="en-US" sz="235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It provides a clean, intuitive entry point for exploring Brand, Category, and Pricing insights.</a:t>
            </a:r>
          </a:p>
          <a:p>
            <a:pPr algn="l">
              <a:lnSpc>
                <a:spcPts val="3302"/>
              </a:lnSpc>
            </a:pPr>
            <a:endParaRPr lang="en-US" sz="2359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091936" y="9510857"/>
            <a:ext cx="316736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61478" y="2180098"/>
            <a:ext cx="632677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Key Elements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33DC9D-24B3-4D6A-7A09-09BF2A6A6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4353779"/>
            <a:ext cx="5743454" cy="46897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A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EE8538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028700" y="933450"/>
            <a:ext cx="590257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BRAND INSIGHTS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091936" y="9510857"/>
            <a:ext cx="316736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1837" y="2234701"/>
            <a:ext cx="11785135" cy="359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5"/>
              </a:lnSpc>
              <a:spcBef>
                <a:spcPct val="0"/>
              </a:spcBef>
            </a:pPr>
            <a:r>
              <a:rPr lang="en-US" sz="2260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T</a:t>
            </a:r>
            <a:r>
              <a:rPr lang="en-US" sz="2260" b="1" u="none" strike="noStrik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o analyze and compare the performance of each brand across multiple metrics such as revenue, reviews, ratings, category share, and popularity trends.</a:t>
            </a:r>
          </a:p>
          <a:p>
            <a:pPr marL="0" lvl="0" indent="0" algn="l">
              <a:lnSpc>
                <a:spcPts val="3165"/>
              </a:lnSpc>
              <a:spcBef>
                <a:spcPct val="0"/>
              </a:spcBef>
            </a:pPr>
            <a:endParaRPr lang="en-US" sz="2260" b="1" u="none" strike="noStrike">
              <a:solidFill>
                <a:srgbClr val="344E41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0" lvl="0" indent="0" algn="l">
              <a:lnSpc>
                <a:spcPts val="3165"/>
              </a:lnSpc>
              <a:spcBef>
                <a:spcPct val="0"/>
              </a:spcBef>
            </a:pPr>
            <a:r>
              <a:rPr lang="en-US" sz="2260" b="1" u="none" strike="noStrik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This page provides brand-level analytics that help answer:</a:t>
            </a:r>
          </a:p>
          <a:p>
            <a:pPr marL="488105" lvl="1" indent="-244053" algn="l">
              <a:lnSpc>
                <a:spcPts val="3165"/>
              </a:lnSpc>
              <a:spcBef>
                <a:spcPct val="0"/>
              </a:spcBef>
              <a:buFont typeface="Arial"/>
              <a:buChar char="•"/>
            </a:pPr>
            <a:r>
              <a:rPr lang="en-US" sz="2260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Which brands drive the most revenue?</a:t>
            </a:r>
          </a:p>
          <a:p>
            <a:pPr marL="488105" lvl="1" indent="-244053" algn="l">
              <a:lnSpc>
                <a:spcPts val="3165"/>
              </a:lnSpc>
              <a:spcBef>
                <a:spcPct val="0"/>
              </a:spcBef>
              <a:buFont typeface="Arial"/>
              <a:buChar char="•"/>
            </a:pPr>
            <a:r>
              <a:rPr lang="en-US" sz="2260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How do customer reviews differ by brand?</a:t>
            </a:r>
          </a:p>
          <a:p>
            <a:pPr marL="488105" lvl="1" indent="-244053" algn="l">
              <a:lnSpc>
                <a:spcPts val="3165"/>
              </a:lnSpc>
              <a:spcBef>
                <a:spcPct val="0"/>
              </a:spcBef>
              <a:buFont typeface="Arial"/>
              <a:buChar char="•"/>
            </a:pPr>
            <a:r>
              <a:rPr lang="en-US" sz="2260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Which categories are most important for each brand?</a:t>
            </a:r>
          </a:p>
          <a:p>
            <a:pPr marL="488105" lvl="1" indent="-244053" algn="l">
              <a:lnSpc>
                <a:spcPts val="3165"/>
              </a:lnSpc>
              <a:spcBef>
                <a:spcPct val="0"/>
              </a:spcBef>
              <a:buFont typeface="Arial"/>
              <a:buChar char="•"/>
            </a:pPr>
            <a:r>
              <a:rPr lang="en-US" sz="2260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How does popularity change over time?</a:t>
            </a:r>
          </a:p>
          <a:p>
            <a:pPr marL="0" lvl="0" indent="0" algn="l">
              <a:lnSpc>
                <a:spcPts val="3165"/>
              </a:lnSpc>
              <a:spcBef>
                <a:spcPct val="0"/>
              </a:spcBef>
            </a:pPr>
            <a:endParaRPr lang="en-US" sz="2260" u="none" strike="noStrike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1837" y="6135066"/>
            <a:ext cx="4750269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Insights This Page Helps Identify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667500"/>
            <a:ext cx="4905829" cy="259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High-value brands</a:t>
            </a:r>
          </a:p>
          <a:p>
            <a:pPr marL="431799" lvl="1" indent="-215899" algn="l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Best-selling product lines</a:t>
            </a:r>
          </a:p>
          <a:p>
            <a:pPr marL="431799" lvl="1" indent="-215899" algn="l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Brand category specialization</a:t>
            </a:r>
          </a:p>
          <a:p>
            <a:pPr marL="431799" lvl="1" indent="-215899" algn="l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Review-driven sales patterns</a:t>
            </a:r>
          </a:p>
          <a:p>
            <a:pPr marL="431799" lvl="1" indent="-215899" algn="l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Seasonal or trend-based popularity changes</a:t>
            </a:r>
          </a:p>
          <a:p>
            <a:pPr algn="l">
              <a:lnSpc>
                <a:spcPts val="2999"/>
              </a:lnSpc>
            </a:pPr>
            <a:endParaRPr lang="en-US" sz="1999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EE892C-13F0-2756-7E75-F0A630886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565" y="3495829"/>
            <a:ext cx="8763000" cy="55011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A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EE8538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028700" y="582142"/>
            <a:ext cx="5326122" cy="1606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55"/>
              </a:lnSpc>
            </a:pPr>
            <a:r>
              <a:rPr lang="en-US" sz="4611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CATEGORY PERFORMANCE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091936" y="9510857"/>
            <a:ext cx="316736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06344"/>
            <a:ext cx="8386295" cy="5590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2"/>
              </a:lnSpc>
              <a:spcBef>
                <a:spcPct val="0"/>
              </a:spcBef>
            </a:pPr>
            <a:r>
              <a:rPr lang="en-US" sz="2665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Purp</a:t>
            </a:r>
            <a:r>
              <a:rPr lang="en-US" sz="2665" b="1" u="none" strike="noStrik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ose of the Category Performance Page</a:t>
            </a:r>
          </a:p>
          <a:p>
            <a:pPr marL="0" lvl="0" indent="0" algn="l">
              <a:lnSpc>
                <a:spcPts val="3732"/>
              </a:lnSpc>
              <a:spcBef>
                <a:spcPct val="0"/>
              </a:spcBef>
            </a:pPr>
            <a:r>
              <a:rPr lang="en-US" sz="2665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This page provides a category-level deep dive into Amazon product performance.</a:t>
            </a:r>
          </a:p>
          <a:p>
            <a:pPr marL="0" lvl="0" indent="0" algn="l">
              <a:lnSpc>
                <a:spcPts val="3732"/>
              </a:lnSpc>
              <a:spcBef>
                <a:spcPct val="0"/>
              </a:spcBef>
            </a:pPr>
            <a:r>
              <a:rPr lang="en-US" sz="2665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It helps identify:</a:t>
            </a:r>
          </a:p>
          <a:p>
            <a:pPr marL="575543" lvl="1" indent="-287771" algn="l">
              <a:lnSpc>
                <a:spcPts val="3732"/>
              </a:lnSpc>
              <a:spcBef>
                <a:spcPct val="0"/>
              </a:spcBef>
              <a:buFont typeface="Arial"/>
              <a:buChar char="•"/>
            </a:pPr>
            <a:r>
              <a:rPr lang="en-US" sz="2665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Which categories contribute the most revenue</a:t>
            </a:r>
          </a:p>
          <a:p>
            <a:pPr marL="575543" lvl="1" indent="-287771" algn="l">
              <a:lnSpc>
                <a:spcPts val="3732"/>
              </a:lnSpc>
              <a:spcBef>
                <a:spcPct val="0"/>
              </a:spcBef>
              <a:buFont typeface="Arial"/>
              <a:buChar char="•"/>
            </a:pPr>
            <a:r>
              <a:rPr lang="en-US" sz="2665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Which categories have the best customer ratings</a:t>
            </a:r>
          </a:p>
          <a:p>
            <a:pPr marL="575543" lvl="1" indent="-287771" algn="l">
              <a:lnSpc>
                <a:spcPts val="3732"/>
              </a:lnSpc>
              <a:spcBef>
                <a:spcPct val="0"/>
              </a:spcBef>
              <a:buFont typeface="Arial"/>
              <a:buChar char="•"/>
            </a:pPr>
            <a:r>
              <a:rPr lang="en-US" sz="2665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Which product categories are growing in popularity</a:t>
            </a:r>
          </a:p>
          <a:p>
            <a:pPr marL="575543" lvl="1" indent="-287771" algn="l">
              <a:lnSpc>
                <a:spcPts val="3732"/>
              </a:lnSpc>
              <a:spcBef>
                <a:spcPct val="0"/>
              </a:spcBef>
              <a:buFont typeface="Arial"/>
              <a:buChar char="•"/>
            </a:pPr>
            <a:r>
              <a:rPr lang="en-US" sz="2665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Top-performing products within each category</a:t>
            </a:r>
          </a:p>
          <a:p>
            <a:pPr marL="0" lvl="0" indent="0" algn="l">
              <a:lnSpc>
                <a:spcPts val="3732"/>
              </a:lnSpc>
              <a:spcBef>
                <a:spcPct val="0"/>
              </a:spcBef>
            </a:pPr>
            <a:r>
              <a:rPr lang="en-US" sz="2665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This page is essential for understanding market segmentation and product strategy.</a:t>
            </a:r>
          </a:p>
          <a:p>
            <a:pPr marL="0" lvl="0" indent="0" algn="l">
              <a:lnSpc>
                <a:spcPts val="3732"/>
              </a:lnSpc>
              <a:spcBef>
                <a:spcPct val="0"/>
              </a:spcBef>
            </a:pPr>
            <a:endParaRPr lang="en-US" sz="2665" u="none" strike="noStrike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302799" y="4893583"/>
            <a:ext cx="5578274" cy="460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40"/>
              </a:lnSpc>
              <a:spcBef>
                <a:spcPct val="0"/>
              </a:spcBef>
            </a:pPr>
            <a:r>
              <a:rPr lang="en-US" sz="2385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Insights Th</a:t>
            </a:r>
            <a:r>
              <a:rPr lang="en-US" sz="2385" b="1" u="none" strike="noStrik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is Page Helps Identify</a:t>
            </a:r>
          </a:p>
          <a:p>
            <a:pPr marL="515119" lvl="1" indent="-257560" algn="l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sz="2385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High-revenue categories</a:t>
            </a:r>
          </a:p>
          <a:p>
            <a:pPr marL="515119" lvl="1" indent="-257560" algn="l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sz="2385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Underperforming categories needing improvement</a:t>
            </a:r>
          </a:p>
          <a:p>
            <a:pPr marL="515119" lvl="1" indent="-257560" algn="l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sz="2385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Categories with strong customer ratings</a:t>
            </a:r>
          </a:p>
          <a:p>
            <a:pPr marL="515119" lvl="1" indent="-257560" algn="l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sz="2385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Price-sensitive or review-driven categories</a:t>
            </a:r>
          </a:p>
          <a:p>
            <a:pPr marL="515119" lvl="1" indent="-257560" algn="l">
              <a:lnSpc>
                <a:spcPts val="3340"/>
              </a:lnSpc>
              <a:spcBef>
                <a:spcPct val="0"/>
              </a:spcBef>
              <a:buFont typeface="Arial"/>
              <a:buChar char="•"/>
            </a:pPr>
            <a:r>
              <a:rPr lang="en-US" sz="2385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Inventory planning and marketing focus areas</a:t>
            </a:r>
          </a:p>
          <a:p>
            <a:pPr marL="0" lvl="0" indent="0" algn="l">
              <a:lnSpc>
                <a:spcPts val="3340"/>
              </a:lnSpc>
              <a:spcBef>
                <a:spcPct val="0"/>
              </a:spcBef>
            </a:pPr>
            <a:endParaRPr lang="en-US" sz="2385" u="none" strike="noStrike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4EAE8C-FDD2-EDD9-C861-BD711E272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72" y="360853"/>
            <a:ext cx="7613253" cy="43254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A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EE8538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1" y="0"/>
            <a:ext cx="5867401" cy="3771900"/>
          </a:xfrm>
          <a:custGeom>
            <a:avLst/>
            <a:gdLst/>
            <a:ahLst/>
            <a:cxnLst/>
            <a:rect l="l" t="t" r="r" b="b"/>
            <a:pathLst>
              <a:path w="8541356" h="9258300">
                <a:moveTo>
                  <a:pt x="0" y="0"/>
                </a:moveTo>
                <a:lnTo>
                  <a:pt x="8541356" y="0"/>
                </a:lnTo>
                <a:lnTo>
                  <a:pt x="8541356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34" r="-4105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091936" y="9510857"/>
            <a:ext cx="316736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34200" y="401222"/>
            <a:ext cx="7811478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PRICING &amp; POPULARITY INSIGHTS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77200" y="2202667"/>
            <a:ext cx="6225923" cy="300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 Purpose</a:t>
            </a:r>
          </a:p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r>
              <a:rPr lang="en-US" sz="215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To</a:t>
            </a:r>
            <a:r>
              <a:rPr lang="en-US" sz="2159" u="none" strike="noStrik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understand how product pricing influences customer engagement, ratings, and overall demand. This dashboard highlights the relationships between price tiers, popularity trends, and revenue contribution to help identify optimal pricing strategies.</a:t>
            </a:r>
          </a:p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endParaRPr lang="en-US" sz="2159" u="none" strike="noStrike">
              <a:solidFill>
                <a:srgbClr val="344E4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051734" y="5143500"/>
            <a:ext cx="8207566" cy="3706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1960" b="1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   Key Insights</a:t>
            </a:r>
          </a:p>
          <a:p>
            <a:pPr marL="423254" lvl="1" indent="-211627" algn="just">
              <a:lnSpc>
                <a:spcPts val="2940"/>
              </a:lnSpc>
              <a:buFont typeface="Arial"/>
              <a:buChar char="•"/>
            </a:pPr>
            <a:r>
              <a:rPr lang="en-US" sz="196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Higher and lower price segments show distinct popularity patterns.</a:t>
            </a:r>
          </a:p>
          <a:p>
            <a:pPr marL="423254" lvl="1" indent="-211627" algn="just">
              <a:lnSpc>
                <a:spcPts val="2940"/>
              </a:lnSpc>
              <a:buFont typeface="Arial"/>
              <a:buChar char="•"/>
            </a:pPr>
            <a:r>
              <a:rPr lang="en-US" sz="196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Revenue contribution varies across price tiers, revealing profitable pricing zones.</a:t>
            </a:r>
          </a:p>
          <a:p>
            <a:pPr marL="423254" lvl="1" indent="-211627" algn="just">
              <a:lnSpc>
                <a:spcPts val="2940"/>
              </a:lnSpc>
              <a:buFont typeface="Arial"/>
              <a:buChar char="•"/>
            </a:pPr>
            <a:r>
              <a:rPr lang="en-US" sz="196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Relationship between price and ratings helps evaluate customer value perception.</a:t>
            </a:r>
          </a:p>
          <a:p>
            <a:pPr marL="423254" lvl="1" indent="-211627" algn="just">
              <a:lnSpc>
                <a:spcPts val="2940"/>
              </a:lnSpc>
              <a:buFont typeface="Arial"/>
              <a:buChar char="•"/>
            </a:pPr>
            <a:r>
              <a:rPr lang="en-US" sz="196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Top high-value products indicate where premium pricing is justified.</a:t>
            </a:r>
          </a:p>
          <a:p>
            <a:pPr marL="423254" lvl="1" indent="-211627" algn="just">
              <a:lnSpc>
                <a:spcPts val="2940"/>
              </a:lnSpc>
              <a:buFont typeface="Arial"/>
              <a:buChar char="•"/>
            </a:pPr>
            <a:r>
              <a:rPr lang="en-US" sz="196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Price–popularity patterns support smarter pricing and product positioning decisions.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F74964-806E-23C3-04B5-3D623BD2F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011122"/>
            <a:ext cx="7673188" cy="50079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A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76554" y="3664369"/>
            <a:ext cx="12734892" cy="296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sz="114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THANK YOU FOR LISTENING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9258300"/>
            <a:ext cx="18288000" cy="1028700"/>
            <a:chOff x="0" y="0"/>
            <a:chExt cx="12372622" cy="695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EE8538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776554" y="2399939"/>
            <a:ext cx="12734892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THE END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87109" y="9510857"/>
            <a:ext cx="591378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Harsh Bagrao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78832" y="9510857"/>
            <a:ext cx="4180468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Tool Used : Power BI, MySQL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510857"/>
            <a:ext cx="295689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2025 November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798</Words>
  <Application>Microsoft Office PowerPoint</Application>
  <PresentationFormat>Custom</PresentationFormat>
  <Paragraphs>134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Raleway Bold</vt:lpstr>
      <vt:lpstr>Prata</vt:lpstr>
      <vt:lpstr>Raleway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Monochromatic Simple The Minimalist Presentation Template</dc:title>
  <cp:lastModifiedBy>Harsh Bagrao</cp:lastModifiedBy>
  <cp:revision>4</cp:revision>
  <dcterms:created xsi:type="dcterms:W3CDTF">2006-08-16T00:00:00Z</dcterms:created>
  <dcterms:modified xsi:type="dcterms:W3CDTF">2025-11-26T05:32:17Z</dcterms:modified>
  <dc:identifier>DAG5t-GtZfU</dc:identifier>
</cp:coreProperties>
</file>